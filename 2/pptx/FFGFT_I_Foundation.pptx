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852160" y="822960"/>
            <a:ext cx="3291840" cy="3291840"/>
          </a:xfrm>
          <a:prstGeom prst="ellipse">
            <a:avLst/>
          </a:prstGeom>
          <a:solidFill>
            <a:srgbClr val="2B3A7A">
              <a:alpha val="0"/>
            </a:srgbClr>
          </a:solidFill>
          <a:ln w="177800">
            <a:solidFill>
              <a:srgbClr val="2B3A7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0" y="1371600"/>
            <a:ext cx="2194560" cy="2194560"/>
          </a:xfrm>
          <a:prstGeom prst="ellipse">
            <a:avLst/>
          </a:prstGeom>
          <a:solidFill>
            <a:srgbClr val="CADCFC">
              <a:alpha val="0"/>
            </a:srgbClr>
          </a:solidFill>
          <a:ln w="101600">
            <a:solidFill>
              <a:srgbClr val="CADCF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903720" y="1874520"/>
            <a:ext cx="1188720" cy="1188720"/>
          </a:xfrm>
          <a:prstGeom prst="ellipse">
            <a:avLst/>
          </a:prstGeom>
          <a:solidFill>
            <a:srgbClr val="E8A33D">
              <a:alpha val="0"/>
            </a:srgbClr>
          </a:solidFill>
          <a:ln w="76200">
            <a:solidFill>
              <a:srgbClr val="E8A33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434072" y="2404872"/>
            <a:ext cx="128016" cy="128016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777240"/>
            <a:ext cx="5120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FFGFT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566928" y="1536192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Fractal Field-Geometric Fundamental Theory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66928" y="224028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I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66928" y="2560320"/>
            <a:ext cx="5212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Foundation: Geometry, Ratios</a:t>
            </a:r>
            <a:endParaRPr lang="en-US" sz="2700" dirty="0"/>
          </a:p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&amp; Natural Units</a:t>
            </a:r>
            <a:endParaRPr lang="en-US" sz="2700" dirty="0"/>
          </a:p>
        </p:txBody>
      </p:sp>
      <p:sp>
        <p:nvSpPr>
          <p:cNvPr id="10" name="Text 8"/>
          <p:cNvSpPr/>
          <p:nvPr/>
        </p:nvSpPr>
        <p:spPr>
          <a:xfrm>
            <a:off x="566928" y="3456432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physics is ratio-based — and what a single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dimensionless number can carry.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66928" y="4114800"/>
            <a:ext cx="3108960" cy="0"/>
          </a:xfrm>
          <a:prstGeom prst="line">
            <a:avLst/>
          </a:prstGeom>
          <a:noFill/>
          <a:ln w="19050">
            <a:solidFill>
              <a:srgbClr val="2B3A7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4251960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Johann Pascher · ORCID 0009-0000-6518-4064 · June 2026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66928" y="4526280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Zenodo 10.5281/zenodo.20474821 · github.com/jpascher/T0-Time-Mass-Duality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75320" y="164592"/>
            <a:ext cx="566928" cy="566928"/>
          </a:xfrm>
          <a:prstGeom prst="ellipse">
            <a:avLst/>
          </a:prstGeom>
          <a:solidFill>
            <a:srgbClr val="CADCFC">
              <a:alpha val="0"/>
            </a:srgbClr>
          </a:solidFill>
          <a:ln w="63500">
            <a:solidFill>
              <a:srgbClr val="CADC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430768" y="320040"/>
            <a:ext cx="256032" cy="256032"/>
          </a:xfrm>
          <a:prstGeom prst="ellipse">
            <a:avLst/>
          </a:prstGeom>
          <a:solidFill>
            <a:srgbClr val="E8A33D">
              <a:alpha val="0"/>
            </a:srgbClr>
          </a:solidFill>
          <a:ln w="38100">
            <a:solidFill>
              <a:srgbClr val="E8A33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01168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SINGLE INPUT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438912"/>
            <a:ext cx="7589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dimensionless number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02920" y="1417320"/>
            <a:ext cx="3200400" cy="3200400"/>
          </a:xfrm>
          <a:prstGeom prst="roundRect">
            <a:avLst>
              <a:gd name="adj" fmla="val 2000"/>
            </a:avLst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55448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ξ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731520" y="22402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4 / 30000 = 1 / 7500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731520" y="26060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1.333 × 10⁻⁴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31520" y="3246120"/>
            <a:ext cx="2697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D_f = 3 − ξ ≈ 2.99987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fractal Hausdorff dimension of space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31520" y="4114800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7500 = 2² · 3 · 5⁴  (36 divisors)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977640" y="1417320"/>
            <a:ext cx="4663440" cy="1005840"/>
          </a:xfrm>
          <a:prstGeom prst="roundRect">
            <a:avLst>
              <a:gd name="adj" fmla="val 6364"/>
            </a:avLst>
          </a:prstGeom>
          <a:solidFill>
            <a:srgbClr val="E8F0FE"/>
          </a:solidFill>
          <a:ln/>
        </p:spPr>
      </p:sp>
      <p:sp>
        <p:nvSpPr>
          <p:cNvPr id="13" name="Text 11"/>
          <p:cNvSpPr/>
          <p:nvPr/>
        </p:nvSpPr>
        <p:spPr>
          <a:xfrm>
            <a:off x="4206240" y="150876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 — forward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206240" y="1783080"/>
            <a:ext cx="4251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3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ratio structure (4/3, the Z₃ symmetry, the torus winding logic) is geometrically motivated and derived.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977640" y="2532888"/>
            <a:ext cx="4663440" cy="1005840"/>
          </a:xfrm>
          <a:prstGeom prst="roundRect">
            <a:avLst>
              <a:gd name="adj" fmla="val 6364"/>
            </a:avLst>
          </a:prstGeom>
          <a:solidFill>
            <a:srgbClr val="FBF3E4"/>
          </a:solidFill>
          <a:ln/>
        </p:spPr>
      </p:sp>
      <p:sp>
        <p:nvSpPr>
          <p:cNvPr id="16" name="Text 14"/>
          <p:cNvSpPr/>
          <p:nvPr/>
        </p:nvSpPr>
        <p:spPr>
          <a:xfrm>
            <a:off x="4206240" y="2624328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Magnitude — input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206240" y="2898648"/>
            <a:ext cx="4251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3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absolute size 5⁴ is declared as harmonically motivated (Euler's Tonnetz) or empirically anchored (Higgs sector) — not forward-derived (Doc. 190, P33).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977640" y="3648456"/>
            <a:ext cx="4663440" cy="1005840"/>
          </a:xfrm>
          <a:prstGeom prst="roundRect">
            <a:avLst>
              <a:gd name="adj" fmla="val 6364"/>
            </a:avLst>
          </a:prstGeom>
          <a:solidFill>
            <a:srgbClr val="E8F0FE"/>
          </a:solidFill>
          <a:ln/>
        </p:spPr>
      </p:sp>
      <p:sp>
        <p:nvSpPr>
          <p:cNvPr id="19" name="Text 17"/>
          <p:cNvSpPr/>
          <p:nvPr/>
        </p:nvSpPr>
        <p:spPr>
          <a:xfrm>
            <a:off x="4206240" y="3739896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Honesty first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206240" y="4014216"/>
            <a:ext cx="4251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3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circularity question is analysed openly in Doc. 009 — the corpus treats its own foundations as critically as it treats competitors.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75320" y="164592"/>
            <a:ext cx="566928" cy="566928"/>
          </a:xfrm>
          <a:prstGeom prst="ellipse">
            <a:avLst/>
          </a:prstGeom>
          <a:solidFill>
            <a:srgbClr val="CADCFC">
              <a:alpha val="0"/>
            </a:srgbClr>
          </a:solidFill>
          <a:ln w="63500">
            <a:solidFill>
              <a:srgbClr val="CADC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430768" y="320040"/>
            <a:ext cx="256032" cy="256032"/>
          </a:xfrm>
          <a:prstGeom prst="ellipse">
            <a:avLst/>
          </a:prstGeom>
          <a:solidFill>
            <a:srgbClr val="E8A33D">
              <a:alpha val="0"/>
            </a:srgbClr>
          </a:solidFill>
          <a:ln w="38100">
            <a:solidFill>
              <a:srgbClr val="E8A33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01168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RELATION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438912"/>
            <a:ext cx="7589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Time–mass duality:  T̃ · m = 1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02920" y="1417320"/>
            <a:ext cx="4023360" cy="3200400"/>
          </a:xfrm>
          <a:prstGeom prst="roundRect">
            <a:avLst>
              <a:gd name="adj" fmla="val 2000"/>
            </a:avLst>
          </a:prstGeom>
          <a:solidFill>
            <a:srgbClr val="E8F0FE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60020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it says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1975104"/>
            <a:ext cx="36118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3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Intrinsic time T̃ and mass m are inversely coupled — heavier objects carry faster internal clocks.</a:t>
            </a:r>
            <a:endParaRPr lang="en-US" sz="12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3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postulate about laboratory clocks: a compactification relation on the 4-torus — one circle carries mass AND time.</a:t>
            </a:r>
            <a:endParaRPr lang="en-US" sz="12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3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= mc² and E = m become the same statement once c is recognised as a unit conversion (Doc. 077).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709160" y="1417320"/>
            <a:ext cx="3931920" cy="3200400"/>
          </a:xfrm>
          <a:prstGeom prst="roundRect">
            <a:avLst>
              <a:gd name="adj" fmla="val 2000"/>
            </a:avLst>
          </a:prstGeom>
          <a:solidFill>
            <a:srgbClr val="FBF3E4"/>
          </a:solidFill>
          <a:ln/>
        </p:spPr>
      </p:sp>
      <p:sp>
        <p:nvSpPr>
          <p:cNvPr id="10" name="Text 8"/>
          <p:cNvSpPr/>
          <p:nvPr/>
        </p:nvSpPr>
        <p:spPr>
          <a:xfrm>
            <a:off x="4937760" y="160020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it buys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937760" y="1975104"/>
            <a:ext cx="35204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3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circles suffice instead of a naïve five — minimal sufficiency (Doc. 270, P34).</a:t>
            </a:r>
            <a:endParaRPr lang="en-US" sz="12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3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Mass reading (T⁴) and time reading (T³ + time) are two views of one object — a bijection, not two theories.</a:t>
            </a:r>
            <a:endParaRPr lang="en-US" sz="12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3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duality is the shared structure beneath QM and relativity — the original motivation of the whole programme.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75320" y="164592"/>
            <a:ext cx="566928" cy="566928"/>
          </a:xfrm>
          <a:prstGeom prst="ellipse">
            <a:avLst/>
          </a:prstGeom>
          <a:solidFill>
            <a:srgbClr val="CADCFC">
              <a:alpha val="0"/>
            </a:srgbClr>
          </a:solidFill>
          <a:ln w="63500">
            <a:solidFill>
              <a:srgbClr val="CADC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430768" y="320040"/>
            <a:ext cx="256032" cy="256032"/>
          </a:xfrm>
          <a:prstGeom prst="ellipse">
            <a:avLst/>
          </a:prstGeom>
          <a:solidFill>
            <a:srgbClr val="E8A33D">
              <a:alpha val="0"/>
            </a:srgbClr>
          </a:solidFill>
          <a:ln w="38100">
            <a:solidFill>
              <a:srgbClr val="E8A33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01168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METHODOLOGICAL CORE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438912"/>
            <a:ext cx="7589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Ratio-based vs. parameter-based physics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02920" y="1463040"/>
            <a:ext cx="2606040" cy="2834640"/>
          </a:xfrm>
          <a:prstGeom prst="roundRect">
            <a:avLst>
              <a:gd name="adj" fmla="val 2456"/>
            </a:avLst>
          </a:prstGeom>
          <a:solidFill>
            <a:srgbClr val="E8F0FE"/>
          </a:solidFill>
          <a:ln/>
        </p:spPr>
      </p:sp>
      <p:sp>
        <p:nvSpPr>
          <p:cNvPr id="7" name="Shape 5"/>
          <p:cNvSpPr/>
          <p:nvPr/>
        </p:nvSpPr>
        <p:spPr>
          <a:xfrm>
            <a:off x="685800" y="1645920"/>
            <a:ext cx="310896" cy="310896"/>
          </a:xfrm>
          <a:prstGeom prst="ellipse">
            <a:avLst/>
          </a:prstGeom>
          <a:solidFill>
            <a:srgbClr val="2B3A7A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2103120"/>
            <a:ext cx="2240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Standard Model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685800" y="2697480"/>
            <a:ext cx="2240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3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19+ free parameters, fitted to experiment. Constants carry units and hide conventions. Why-questions are out of scope.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291840" y="1463040"/>
            <a:ext cx="2606040" cy="2834640"/>
          </a:xfrm>
          <a:prstGeom prst="roundRect">
            <a:avLst>
              <a:gd name="adj" fmla="val 2456"/>
            </a:avLst>
          </a:prstGeom>
          <a:solidFill>
            <a:srgbClr val="E8F0FE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0" y="1645920"/>
            <a:ext cx="310896" cy="310896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2" name="Text 10"/>
          <p:cNvSpPr/>
          <p:nvPr/>
        </p:nvSpPr>
        <p:spPr>
          <a:xfrm>
            <a:off x="3474720" y="2103120"/>
            <a:ext cx="2240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FFGFT — Layer 1 (ratios)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3474720" y="2697480"/>
            <a:ext cx="2240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3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Pure ratio statements: mass ratios, coupling ratios, the Koide scalar. Parameter-free, unit-free, exactly computable (Doc. 053, Part I).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080760" y="1463040"/>
            <a:ext cx="2606040" cy="2834640"/>
          </a:xfrm>
          <a:prstGeom prst="roundRect">
            <a:avLst>
              <a:gd name="adj" fmla="val 2456"/>
            </a:avLst>
          </a:prstGeom>
          <a:solidFill>
            <a:srgbClr val="E8F0FE"/>
          </a:solidFill>
          <a:ln/>
        </p:spPr>
      </p:sp>
      <p:sp>
        <p:nvSpPr>
          <p:cNvPr id="15" name="Shape 13"/>
          <p:cNvSpPr/>
          <p:nvPr/>
        </p:nvSpPr>
        <p:spPr>
          <a:xfrm>
            <a:off x="6263640" y="1645920"/>
            <a:ext cx="310896" cy="31089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6" name="Text 14"/>
          <p:cNvSpPr/>
          <p:nvPr/>
        </p:nvSpPr>
        <p:spPr>
          <a:xfrm>
            <a:off x="6263640" y="2103120"/>
            <a:ext cx="2240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FFGFT — Layer 2 (SI contact)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6263640" y="2697480"/>
            <a:ext cx="2240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3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single reference (e.g. the electron mass in SI) converts every ratio into an absolute number. The conversion layer is declared, never hidden (Doc. 053, Part II).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502920" y="452628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7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Ratios are the intrinsic content; absolute numbers are ratios plus a unit choice. This separation runs through the entire corpus (Doc. 054, 122, 241).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75320" y="164592"/>
            <a:ext cx="566928" cy="566928"/>
          </a:xfrm>
          <a:prstGeom prst="ellipse">
            <a:avLst/>
          </a:prstGeom>
          <a:solidFill>
            <a:srgbClr val="CADCFC">
              <a:alpha val="0"/>
            </a:srgbClr>
          </a:solidFill>
          <a:ln w="63500">
            <a:solidFill>
              <a:srgbClr val="CADC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430768" y="320040"/>
            <a:ext cx="256032" cy="256032"/>
          </a:xfrm>
          <a:prstGeom prst="ellipse">
            <a:avLst/>
          </a:prstGeom>
          <a:solidFill>
            <a:srgbClr val="E8A33D">
              <a:alpha val="0"/>
            </a:srgbClr>
          </a:solidFill>
          <a:ln w="38100">
            <a:solidFill>
              <a:srgbClr val="E8A33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01168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DOC. 241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438912"/>
            <a:ext cx="7589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layers: where the constants go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1572768"/>
            <a:ext cx="512064" cy="51206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57276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280160" y="1481328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ħ = c = G = k_B = 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280160" y="1865376"/>
            <a:ext cx="7315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3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step: the classical natural-unit choice removes the unit-carrying constants — they were conversion factors all along.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2596896"/>
            <a:ext cx="512064" cy="51206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259689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280160" y="2505456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α = 1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280160" y="2889504"/>
            <a:ext cx="7315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3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 step: even the fine-structure constant can be absorbed into the charge definition — what remains is pure structure.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3621024"/>
            <a:ext cx="512064" cy="512064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362102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280160" y="3529584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survives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280160" y="3913632"/>
            <a:ext cx="7315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3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Dimensionless ratios and ξ. Everything that survives both steps is intrinsic physics; everything that vanished was bookkeeping.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02920" y="4572000"/>
            <a:ext cx="8138160" cy="457200"/>
          </a:xfrm>
          <a:prstGeom prst="roundRect">
            <a:avLst>
              <a:gd name="adj" fmla="val 14000"/>
            </a:avLst>
          </a:prstGeom>
          <a:solidFill>
            <a:srgbClr val="FBF3E4"/>
          </a:solidFill>
          <a:ln/>
        </p:spPr>
      </p:sp>
      <p:sp>
        <p:nvSpPr>
          <p:cNvPr id="19" name="Text 17"/>
          <p:cNvSpPr/>
          <p:nvPr/>
        </p:nvSpPr>
        <p:spPr>
          <a:xfrm>
            <a:off x="731520" y="4626864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recursion is hidden in SI units and becomes visible in natural units — the unit system is not neutral, it shapes what looks fundamental.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75320" y="164592"/>
            <a:ext cx="566928" cy="566928"/>
          </a:xfrm>
          <a:prstGeom prst="ellipse">
            <a:avLst/>
          </a:prstGeom>
          <a:solidFill>
            <a:srgbClr val="CADCFC">
              <a:alpha val="0"/>
            </a:srgbClr>
          </a:solidFill>
          <a:ln w="63500">
            <a:solidFill>
              <a:srgbClr val="CADC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430768" y="320040"/>
            <a:ext cx="256032" cy="256032"/>
          </a:xfrm>
          <a:prstGeom prst="ellipse">
            <a:avLst/>
          </a:prstGeom>
          <a:solidFill>
            <a:srgbClr val="E8A33D">
              <a:alpha val="0"/>
            </a:srgbClr>
          </a:solidFill>
          <a:ln w="38100">
            <a:solidFill>
              <a:srgbClr val="E8A33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01168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 014 / 015 / 261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438912"/>
            <a:ext cx="7589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Natural units in FFGFT: static, correction-free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02920" y="1417320"/>
            <a:ext cx="4023360" cy="3200400"/>
          </a:xfrm>
          <a:prstGeom prst="roundRect">
            <a:avLst>
              <a:gd name="adj" fmla="val 2000"/>
            </a:avLst>
          </a:prstGeom>
          <a:solidFill>
            <a:srgbClr val="E8F0FE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60020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correction-free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31520" y="1975104"/>
            <a:ext cx="36118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23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Compactified time is static and complete — dynamics (the arrow) emerges from traversal, not from the geometry itself (Doc. 261).</a:t>
            </a:r>
            <a:endParaRPr lang="en-US" sz="120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23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ratio space no fractal correction factor is needed: K_frak = 0.9862 appears only when converting to absolute SI quantities (Doc. 122).</a:t>
            </a:r>
            <a:endParaRPr lang="en-US" sz="120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23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Ratio calculations are exact; error propagation only enters with the unit bridge.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09160" y="1417320"/>
            <a:ext cx="3931920" cy="3200400"/>
          </a:xfrm>
          <a:prstGeom prst="roundRect">
            <a:avLst>
              <a:gd name="adj" fmla="val 2000"/>
            </a:avLst>
          </a:prstGeom>
          <a:solidFill>
            <a:srgbClr val="FBF3E4"/>
          </a:solidFill>
          <a:ln/>
        </p:spPr>
      </p:sp>
      <p:sp>
        <p:nvSpPr>
          <p:cNvPr id="10" name="Text 8"/>
          <p:cNvSpPr/>
          <p:nvPr/>
        </p:nvSpPr>
        <p:spPr>
          <a:xfrm>
            <a:off x="4937760" y="160020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explicit SI is required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937760" y="1975104"/>
            <a:ext cx="352044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23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Anything a laboratory measures in metres, seconds, kilograms — the bridge constants c, ħ map circles to measured axes.</a:t>
            </a:r>
            <a:endParaRPr lang="en-US" sz="120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23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= space–time bridge, ħ = mass–time bridge: setting c = ħ = 1 collapses L, T, M and destroys the exponent structure one wants to read (P34).</a:t>
            </a:r>
            <a:endParaRPr lang="en-US" sz="120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23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2019 SI reform fixed these constants exactly — FFGFT treats that as the formal completion of their conversion-factor status.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75320" y="164592"/>
            <a:ext cx="566928" cy="566928"/>
          </a:xfrm>
          <a:prstGeom prst="ellipse">
            <a:avLst/>
          </a:prstGeom>
          <a:solidFill>
            <a:srgbClr val="CADCFC">
              <a:alpha val="0"/>
            </a:srgbClr>
          </a:solidFill>
          <a:ln w="63500">
            <a:solidFill>
              <a:srgbClr val="CADC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430768" y="320040"/>
            <a:ext cx="256032" cy="256032"/>
          </a:xfrm>
          <a:prstGeom prst="ellipse">
            <a:avLst/>
          </a:prstGeom>
          <a:solidFill>
            <a:srgbClr val="E8A33D">
              <a:alpha val="0"/>
            </a:srgbClr>
          </a:solidFill>
          <a:ln w="38100">
            <a:solidFill>
              <a:srgbClr val="E8A33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01168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 070 / 101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438912"/>
            <a:ext cx="7589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Resolving the circularity of constants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02920" y="1298448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classical worry: G defines the Planck length, the Planck length appears in quantum gravity, which constrains G — definitions chase each other in circles.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02920" y="1938528"/>
            <a:ext cx="8138160" cy="804672"/>
          </a:xfrm>
          <a:prstGeom prst="roundRect">
            <a:avLst>
              <a:gd name="adj" fmla="val 7955"/>
            </a:avLst>
          </a:prstGeom>
          <a:solidFill>
            <a:srgbClr val="E8F0FE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2011680"/>
            <a:ext cx="1737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Diagnosis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2606040" y="2011680"/>
            <a:ext cx="58521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3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circle exists only on the level of unit-carrying constants. They are mutually defined because they are conversion factors of one underlying structure.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02920" y="2834640"/>
            <a:ext cx="8138160" cy="804672"/>
          </a:xfrm>
          <a:prstGeom prst="roundRect">
            <a:avLst>
              <a:gd name="adj" fmla="val 7955"/>
            </a:avLst>
          </a:prstGeom>
          <a:solidFill>
            <a:srgbClr val="FBF3E4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2907792"/>
            <a:ext cx="1737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Resolution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2606040" y="2907792"/>
            <a:ext cx="58521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3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Ratio relations need no units at all. Once physics is stated in ratios, the circle dissolves: there is one geometric input (ξ) and a web of derived ratios.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02920" y="3730752"/>
            <a:ext cx="8138160" cy="804672"/>
          </a:xfrm>
          <a:prstGeom prst="roundRect">
            <a:avLst>
              <a:gd name="adj" fmla="val 7955"/>
            </a:avLst>
          </a:prstGeom>
          <a:solidFill>
            <a:srgbClr val="E8F0FE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3803904"/>
            <a:ext cx="1737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Consequence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2606040" y="3803904"/>
            <a:ext cx="58521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3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 and G change status: from fundamental constants to derived quantities — G = ξ²/(4mₑ) in natural units, then converted (Docs 012, 013, 127).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75320" y="164592"/>
            <a:ext cx="566928" cy="566928"/>
          </a:xfrm>
          <a:prstGeom prst="ellipse">
            <a:avLst/>
          </a:prstGeom>
          <a:solidFill>
            <a:srgbClr val="CADCFC">
              <a:alpha val="0"/>
            </a:srgbClr>
          </a:solidFill>
          <a:ln w="63500">
            <a:solidFill>
              <a:srgbClr val="CADC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430768" y="320040"/>
            <a:ext cx="256032" cy="256032"/>
          </a:xfrm>
          <a:prstGeom prst="ellipse">
            <a:avLst/>
          </a:prstGeom>
          <a:solidFill>
            <a:srgbClr val="E8A33D">
              <a:alpha val="0"/>
            </a:srgbClr>
          </a:solidFill>
          <a:ln w="38100">
            <a:solidFill>
              <a:srgbClr val="E8A33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01168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DOC. 013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438912"/>
            <a:ext cx="7589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geometry to the SI system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02920" y="1554480"/>
            <a:ext cx="1554480" cy="914400"/>
          </a:xfrm>
          <a:prstGeom prst="roundRect">
            <a:avLst>
              <a:gd name="adj" fmla="val 7000"/>
            </a:avLst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576072" y="1554480"/>
            <a:ext cx="140817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ξ  (geometric input)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2039112" y="1783080"/>
            <a:ext cx="201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B7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2203704" y="1554480"/>
            <a:ext cx="1554480" cy="914400"/>
          </a:xfrm>
          <a:prstGeom prst="roundRect">
            <a:avLst>
              <a:gd name="adj" fmla="val 7000"/>
            </a:avLst>
          </a:prstGeom>
          <a:solidFill>
            <a:srgbClr val="E8F0FE"/>
          </a:solidFill>
          <a:ln/>
        </p:spPr>
      </p:sp>
      <p:sp>
        <p:nvSpPr>
          <p:cNvPr id="10" name="Text 8"/>
          <p:cNvSpPr/>
          <p:nvPr/>
        </p:nvSpPr>
        <p:spPr>
          <a:xfrm>
            <a:off x="2276856" y="1554480"/>
            <a:ext cx="140817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 = ξ²/(4mₑ)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3739896" y="1783080"/>
            <a:ext cx="201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B7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904488" y="1554480"/>
            <a:ext cx="1554480" cy="914400"/>
          </a:xfrm>
          <a:prstGeom prst="roundRect">
            <a:avLst>
              <a:gd name="adj" fmla="val 7000"/>
            </a:avLst>
          </a:prstGeom>
          <a:solidFill>
            <a:srgbClr val="E8F0FE"/>
          </a:solidFill>
          <a:ln/>
        </p:spPr>
      </p:sp>
      <p:sp>
        <p:nvSpPr>
          <p:cNvPr id="13" name="Text 11"/>
          <p:cNvSpPr/>
          <p:nvPr/>
        </p:nvSpPr>
        <p:spPr>
          <a:xfrm>
            <a:off x="3977640" y="1554480"/>
            <a:ext cx="140817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ℓ_P = √(ħG/c³)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5440680" y="1783080"/>
            <a:ext cx="201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B7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605272" y="1554480"/>
            <a:ext cx="1554480" cy="914400"/>
          </a:xfrm>
          <a:prstGeom prst="roundRect">
            <a:avLst>
              <a:gd name="adj" fmla="val 7000"/>
            </a:avLst>
          </a:prstGeom>
          <a:solidFill>
            <a:srgbClr val="FBF3E4"/>
          </a:solidFill>
          <a:ln/>
        </p:spPr>
      </p:sp>
      <p:sp>
        <p:nvSpPr>
          <p:cNvPr id="16" name="Text 14"/>
          <p:cNvSpPr/>
          <p:nvPr/>
        </p:nvSpPr>
        <p:spPr>
          <a:xfrm>
            <a:off x="5678424" y="1554480"/>
            <a:ext cx="140817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L₀ = ξ · ℓ_P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7141464" y="1783080"/>
            <a:ext cx="201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B7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7306056" y="1554480"/>
            <a:ext cx="1554480" cy="914400"/>
          </a:xfrm>
          <a:prstGeom prst="roundRect">
            <a:avLst>
              <a:gd name="adj" fmla="val 7000"/>
            </a:avLst>
          </a:prstGeom>
          <a:solidFill>
            <a:srgbClr val="E8F0FE"/>
          </a:solidFill>
          <a:ln/>
        </p:spPr>
      </p:sp>
      <p:sp>
        <p:nvSpPr>
          <p:cNvPr id="19" name="Text 17"/>
          <p:cNvSpPr/>
          <p:nvPr/>
        </p:nvSpPr>
        <p:spPr>
          <a:xfrm>
            <a:off x="7379208" y="1554480"/>
            <a:ext cx="140817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k_B, further constants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502920" y="2788920"/>
            <a:ext cx="81381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3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L₀ = ξ·ℓ_P ≈ 2.16 × 10⁻³⁹ m — the sub-Planck minimal length, the only exact ξ¹ relation against ℓ_P (P35).</a:t>
            </a:r>
            <a:endParaRPr lang="en-US" sz="12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3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step is either a ratio statement or an explicitly declared unit conversion — nothing is silently absorbed.</a:t>
            </a:r>
            <a:endParaRPr lang="en-US" sz="12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3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speed of light: a question dissolved — geometrically a torus ratio, conventionally a defined number; both readings coexist without conflict (Doc. 134).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75320" y="164592"/>
            <a:ext cx="566928" cy="566928"/>
          </a:xfrm>
          <a:prstGeom prst="ellipse">
            <a:avLst/>
          </a:prstGeom>
          <a:solidFill>
            <a:srgbClr val="CADCFC">
              <a:alpha val="0"/>
            </a:srgbClr>
          </a:solidFill>
          <a:ln w="63500">
            <a:solidFill>
              <a:srgbClr val="CADC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430768" y="320040"/>
            <a:ext cx="256032" cy="256032"/>
          </a:xfrm>
          <a:prstGeom prst="ellipse">
            <a:avLst/>
          </a:prstGeom>
          <a:solidFill>
            <a:srgbClr val="E8A33D">
              <a:alpha val="0"/>
            </a:srgbClr>
          </a:solidFill>
          <a:ln w="38100">
            <a:solidFill>
              <a:srgbClr val="E8A33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01168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DOC. 077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438912"/>
            <a:ext cx="7589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 = mc² and E = m: the constant illusion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02920" y="1463040"/>
            <a:ext cx="3840480" cy="3017520"/>
          </a:xfrm>
          <a:prstGeom prst="roundRect">
            <a:avLst>
              <a:gd name="adj" fmla="val 2121"/>
            </a:avLst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78308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 = mc²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731520" y="237744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=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731520" y="283464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 = m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731520" y="352044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…once c = 1 is seen as a unit choice, not a law.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617720" y="1600200"/>
            <a:ext cx="402336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3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c² in the famous formula is a conversion factor between two unit conventions for the same quantity.</a:t>
            </a:r>
            <a:endParaRPr lang="en-US" sz="12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3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physical content is the identity of energy and mass — the factor is bookkeeping.</a:t>
            </a:r>
            <a:endParaRPr lang="en-US" sz="12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3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dilation re-derived without paradox once intrinsic time T̃ (duality partner of m) is distinguished from coordinate time.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75320" y="164592"/>
            <a:ext cx="566928" cy="566928"/>
          </a:xfrm>
          <a:prstGeom prst="ellipse">
            <a:avLst/>
          </a:prstGeom>
          <a:solidFill>
            <a:srgbClr val="CADCFC">
              <a:alpha val="0"/>
            </a:srgbClr>
          </a:solidFill>
          <a:ln w="63500">
            <a:solidFill>
              <a:srgbClr val="CADC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430768" y="320040"/>
            <a:ext cx="256032" cy="256032"/>
          </a:xfrm>
          <a:prstGeom prst="ellipse">
            <a:avLst/>
          </a:prstGeom>
          <a:solidFill>
            <a:srgbClr val="E8A33D">
              <a:alpha val="0"/>
            </a:srgbClr>
          </a:solidFill>
          <a:ln w="38100">
            <a:solidFill>
              <a:srgbClr val="E8A33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01168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DOC. 057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438912"/>
            <a:ext cx="7589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relocative number system: ratios as operations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02920" y="1417320"/>
            <a:ext cx="4023360" cy="3200400"/>
          </a:xfrm>
          <a:prstGeom prst="roundRect">
            <a:avLst>
              <a:gd name="adj" fmla="val 2000"/>
            </a:avLst>
          </a:prstGeom>
          <a:solidFill>
            <a:srgbClr val="FBF3E4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60020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Music as the model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31520" y="1975104"/>
            <a:ext cx="36118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23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interval (a fifth, 3:2) is the same operation from any starting tone — intervals are relations, not positions.</a:t>
            </a:r>
            <a:endParaRPr lang="en-US" sz="120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23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Euler's Tonnetz (1739): tone geometry as a lattice of ratio operations — the historical template for ξ.</a:t>
            </a:r>
            <a:endParaRPr lang="en-US" sz="120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23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Musical commas (small mismatches that accumulate around cycles) prefigure the fractal deviation ξ.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09160" y="1417320"/>
            <a:ext cx="3931920" cy="3200400"/>
          </a:xfrm>
          <a:prstGeom prst="roundRect">
            <a:avLst>
              <a:gd name="adj" fmla="val 2000"/>
            </a:avLst>
          </a:prstGeom>
          <a:solidFill>
            <a:srgbClr val="E8F0FE"/>
          </a:solidFill>
          <a:ln/>
        </p:spPr>
      </p:sp>
      <p:sp>
        <p:nvSpPr>
          <p:cNvPr id="10" name="Text 8"/>
          <p:cNvSpPr/>
          <p:nvPr/>
        </p:nvSpPr>
        <p:spPr>
          <a:xfrm>
            <a:off x="4937760" y="160020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Transferred to physics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937760" y="1975104"/>
            <a:ext cx="35204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23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 of the reference point: physics expressed in relations between states, not in absolute coordinates.</a:t>
            </a:r>
            <a:endParaRPr lang="en-US" sz="120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23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Primes as elementary relations; category-theoretic grounding for the ratio calculus.</a:t>
            </a:r>
            <a:endParaRPr lang="en-US" sz="120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23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structure that makes a melody transposable makes physics unit-independent.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75320" y="164592"/>
            <a:ext cx="566928" cy="566928"/>
          </a:xfrm>
          <a:prstGeom prst="ellipse">
            <a:avLst/>
          </a:prstGeom>
          <a:solidFill>
            <a:srgbClr val="CADCFC">
              <a:alpha val="0"/>
            </a:srgbClr>
          </a:solidFill>
          <a:ln w="63500">
            <a:solidFill>
              <a:srgbClr val="CADC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430768" y="320040"/>
            <a:ext cx="256032" cy="256032"/>
          </a:xfrm>
          <a:prstGeom prst="ellipse">
            <a:avLst/>
          </a:prstGeom>
          <a:solidFill>
            <a:srgbClr val="E8A33D">
              <a:alpha val="0"/>
            </a:srgbClr>
          </a:solidFill>
          <a:ln w="38100">
            <a:solidFill>
              <a:srgbClr val="E8A33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01168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 181 / 188 / 189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438912"/>
            <a:ext cx="7589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torus: why this geometry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987552" y="2084832"/>
            <a:ext cx="1865376" cy="1865376"/>
          </a:xfrm>
          <a:prstGeom prst="ellipse">
            <a:avLst/>
          </a:prstGeom>
          <a:solidFill>
            <a:srgbClr val="2B3A7A">
              <a:alpha val="0"/>
            </a:srgbClr>
          </a:solidFill>
          <a:ln w="88900">
            <a:solidFill>
              <a:srgbClr val="2B3A7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88720" y="2286000"/>
            <a:ext cx="1463040" cy="1463040"/>
          </a:xfrm>
          <a:prstGeom prst="ellipse">
            <a:avLst/>
          </a:prstGeom>
          <a:solidFill>
            <a:srgbClr val="CADCFC">
              <a:alpha val="0"/>
            </a:srgbClr>
          </a:solidFill>
          <a:ln w="76200">
            <a:solidFill>
              <a:srgbClr val="CADCF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371600" y="2468880"/>
            <a:ext cx="1097280" cy="1097280"/>
          </a:xfrm>
          <a:prstGeom prst="ellipse">
            <a:avLst/>
          </a:prstGeom>
          <a:solidFill>
            <a:srgbClr val="2B3A7A">
              <a:alpha val="0"/>
            </a:srgbClr>
          </a:solidFill>
          <a:ln w="63500">
            <a:solidFill>
              <a:srgbClr val="2B3A7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536192" y="2633472"/>
            <a:ext cx="768096" cy="768096"/>
          </a:xfrm>
          <a:prstGeom prst="ellipse">
            <a:avLst/>
          </a:prstGeom>
          <a:solidFill>
            <a:srgbClr val="E8A33D">
              <a:alpha val="0"/>
            </a:srgbClr>
          </a:solidFill>
          <a:ln w="50800">
            <a:solidFill>
              <a:srgbClr val="E8A33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4133088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L_μ = L₀ · (2/3)^μ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069080" y="1463040"/>
            <a:ext cx="45720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3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Periodicity removes divergences — the universal phase condition (Doc. 188) demands closed paths.</a:t>
            </a:r>
            <a:endParaRPr lang="en-US" sz="12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3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Torus, not sphere: π₁ ≠ 0 — only a non-trivial fundamental group carries stable winding modes (particles as windings).</a:t>
            </a:r>
            <a:endParaRPr lang="en-US" sz="12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3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Length recursion with q = 2/3: a geometric ladder connecting scales — the same q reappears in the lepton sector and in the ξ→φ recursion (Part V).</a:t>
            </a:r>
            <a:endParaRPr lang="en-US" sz="12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3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status (P34): the count 3+1 is empirical input; periodicity, torus topology and minimal sufficiency are the forward content.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822960" y="2468880"/>
            <a:ext cx="3108960" cy="3108960"/>
          </a:xfrm>
          <a:prstGeom prst="ellipse">
            <a:avLst/>
          </a:prstGeom>
          <a:solidFill>
            <a:srgbClr val="2B3A7A">
              <a:alpha val="0"/>
            </a:srgbClr>
          </a:solidFill>
          <a:ln w="177800">
            <a:solidFill>
              <a:srgbClr val="2B3A7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320040" y="2971800"/>
            <a:ext cx="2103120" cy="2103120"/>
          </a:xfrm>
          <a:prstGeom prst="ellipse">
            <a:avLst/>
          </a:prstGeom>
          <a:solidFill>
            <a:srgbClr val="CADCFC">
              <a:alpha val="0"/>
            </a:srgbClr>
          </a:solidFill>
          <a:ln w="101600">
            <a:solidFill>
              <a:srgbClr val="CADCF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82880" y="3474720"/>
            <a:ext cx="1097280" cy="1097280"/>
          </a:xfrm>
          <a:prstGeom prst="ellipse">
            <a:avLst/>
          </a:prstGeom>
          <a:solidFill>
            <a:srgbClr val="E8A33D">
              <a:alpha val="0"/>
            </a:srgbClr>
          </a:solidFill>
          <a:ln w="76200">
            <a:solidFill>
              <a:srgbClr val="E8A33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377440" y="640080"/>
            <a:ext cx="6217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2395728" y="1234440"/>
            <a:ext cx="60350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dimensionless input ξ = 4/30000; its ratio structure is derived, its magnitude is declared input (P33).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T̃·m = 1 is a compactification relation — the shared root of QM and relativity in this framework.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Physics splits into a ratio layer (exact, unit-free) and a declared SI conversion layer — constants are bookkeeping.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ħ, c, G, k_B and even α dissolve into conversions; what survives is geometry.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Euler's Tonnetz is the methodological ancestor: ratios as operations.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2395728" y="3977640"/>
            <a:ext cx="5760720" cy="0"/>
          </a:xfrm>
          <a:prstGeom prst="line">
            <a:avLst/>
          </a:prstGeom>
          <a:noFill/>
          <a:ln w="19050">
            <a:solidFill>
              <a:srgbClr val="2B3A7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377440" y="4160520"/>
            <a:ext cx="612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— Part II:  </a:t>
            </a:r>
            <a:pPr indent="0" marL="0">
              <a:buNone/>
            </a:pPr>
            <a:r>
              <a:rPr lang="en-US" sz="13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Lagrangian &amp; Field Dynamics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FFGFT Part I — Foundation</dc:title>
  <dc:subject>PptxGenJS Presentation</dc:subject>
  <dc:creator>Johann Pascher</dc:creator>
  <cp:lastModifiedBy>Johann Pascher</cp:lastModifiedBy>
  <cp:revision>1</cp:revision>
  <dcterms:created xsi:type="dcterms:W3CDTF">2026-06-10T15:47:16Z</dcterms:created>
  <dcterms:modified xsi:type="dcterms:W3CDTF">2026-06-10T15:47:16Z</dcterms:modified>
</cp:coreProperties>
</file>